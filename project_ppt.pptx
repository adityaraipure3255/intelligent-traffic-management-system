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  <p:bold r:id="rId14"/>
      <p:italic r:id="rId15"/>
    </p:embeddedFont>
    <p:embeddedFont>
      <p:font typeface="Roboto Light" panose="02000000000000000000" pitchFamily="2" charset="0"/>
      <p:regular r:id="rId16"/>
      <p:italic r:id="rId17"/>
    </p:embeddedFont>
    <p:embeddedFont>
      <p:font typeface="Roboto Medium" panose="020000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046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1825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345650"/>
            <a:ext cx="7556421" cy="3175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b="1" dirty="0">
                <a:solidFill>
                  <a:srgbClr val="FFFFFF"/>
                </a:solidFill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ML-Based Traffic Management System with Emergency Priority System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55209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594598"/>
            <a:ext cx="5889546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Traffic Congestion Crisis :</a:t>
            </a:r>
            <a:endParaRPr lang="en-US" sz="41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4260" y="3049429"/>
            <a:ext cx="318968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Challenge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44260" y="3647361"/>
            <a:ext cx="6994565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Traffic congestion creates critical delays for emergency vehicles, directly impacting response times and human lives. Traditional traffic signals operate on fixed timing cycles, unable to adapt to real-time emergency situations.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4260" y="5144929"/>
            <a:ext cx="6994565" cy="112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emergency vehicle delay: 3-5 minutes per intersection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 time critical for cardiac arrest cases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 signal timing ignores priority vehicle needs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081" y="1782247"/>
            <a:ext cx="5628561" cy="562856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1C87DF-4766-96A1-18A5-6CD9DDBD0319}"/>
              </a:ext>
            </a:extLst>
          </p:cNvPr>
          <p:cNvSpPr/>
          <p:nvPr/>
        </p:nvSpPr>
        <p:spPr>
          <a:xfrm>
            <a:off x="12534607" y="7505700"/>
            <a:ext cx="1992923" cy="609600"/>
          </a:xfrm>
          <a:prstGeom prst="rect">
            <a:avLst/>
          </a:prstGeom>
          <a:solidFill>
            <a:srgbClr val="00001A"/>
          </a:solidFill>
          <a:ln>
            <a:solidFill>
              <a:srgbClr val="0000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374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Project Objective :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39983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6342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A6ED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3821311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Smart Automation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503193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 fixed-timing signals with intelligent, adaptive control systems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39983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36342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A6ED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821311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Priority Clearance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503193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green signal for authenticated emergency vehicles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39983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36342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A6ED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1734" y="3821311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Faster Response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503193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emergency vehicle delay to under 2 seconds per intersection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657BDB-BBC1-8C01-4B22-A152A77FB812}"/>
              </a:ext>
            </a:extLst>
          </p:cNvPr>
          <p:cNvSpPr/>
          <p:nvPr/>
        </p:nvSpPr>
        <p:spPr>
          <a:xfrm>
            <a:off x="12534607" y="7505700"/>
            <a:ext cx="1992923" cy="609600"/>
          </a:xfrm>
          <a:prstGeom prst="rect">
            <a:avLst/>
          </a:prstGeom>
          <a:solidFill>
            <a:srgbClr val="00001A"/>
          </a:solidFill>
          <a:ln>
            <a:solidFill>
              <a:srgbClr val="0000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90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Proposed Solution :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608534"/>
            <a:ext cx="417695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Hybrid System Architecture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73987"/>
            <a:ext cx="6521410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3508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Audio Detection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998476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TinyML-based siren recognition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373987"/>
            <a:ext cx="6521410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42014" y="3508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RFID Authentication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542014" y="3998476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 verification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588193"/>
            <a:ext cx="6521410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0604" y="57222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 Engine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20604" y="6212681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Dual verification logic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588193"/>
            <a:ext cx="6521410" cy="9072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42014" y="57222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Signal Control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542014" y="6212681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green priority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793790" y="70575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Powered by </a:t>
            </a:r>
            <a:r>
              <a:rPr lang="en-US" sz="175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Arduino Nano 33 BLE Sense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integrated machine learning capabilities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04231D2-2659-3845-9BD6-5BCB90D402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6082" b="21157"/>
          <a:stretch>
            <a:fillRect/>
          </a:stretch>
        </p:blipFill>
        <p:spPr>
          <a:xfrm>
            <a:off x="10416011" y="5495449"/>
            <a:ext cx="4214389" cy="27341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1825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393" y="587097"/>
            <a:ext cx="5291495" cy="7055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2228" y="609243"/>
            <a:ext cx="4873228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System Workflow :</a:t>
            </a:r>
            <a:endParaRPr lang="en-US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2228" y="1469588"/>
            <a:ext cx="77795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Multi-Camera Traffic Monitoring &amp; Vehicle Detection System | Prototype Implementation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2228" y="1947862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2228" y="2256234"/>
            <a:ext cx="7779544" cy="2286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8" name="Text 5"/>
          <p:cNvSpPr/>
          <p:nvPr/>
        </p:nvSpPr>
        <p:spPr>
          <a:xfrm>
            <a:off x="682228" y="2399348"/>
            <a:ext cx="3187898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Continuous Audio Monitoring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82228" y="2804398"/>
            <a:ext cx="77795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siren detection using microphone sensor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2228" y="3407807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2228" y="3716179"/>
            <a:ext cx="7779544" cy="2286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2" name="Text 9"/>
          <p:cNvSpPr/>
          <p:nvPr/>
        </p:nvSpPr>
        <p:spPr>
          <a:xfrm>
            <a:off x="682228" y="3859292"/>
            <a:ext cx="265509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ML-Based Classification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82228" y="4264342"/>
            <a:ext cx="77795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TinyML processes audio patterns instantly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2228" y="4867751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82228" y="5176123"/>
            <a:ext cx="7779544" cy="2286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6" name="Text 13"/>
          <p:cNvSpPr/>
          <p:nvPr/>
        </p:nvSpPr>
        <p:spPr>
          <a:xfrm>
            <a:off x="682228" y="5319236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RFID Validation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82228" y="5724287"/>
            <a:ext cx="77795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Secondary authentication prevents false triggers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82228" y="6327696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2228" y="6636068"/>
            <a:ext cx="7779544" cy="2286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20" name="Text 17"/>
          <p:cNvSpPr/>
          <p:nvPr/>
        </p:nvSpPr>
        <p:spPr>
          <a:xfrm>
            <a:off x="682228" y="6779181"/>
            <a:ext cx="253186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Smart Signal Switching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82228" y="7184231"/>
            <a:ext cx="77795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green light activation for priority vehicles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5250537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Hardware Implementation :</a:t>
            </a:r>
            <a:endParaRPr lang="en-US" sz="35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79183" y="2549485"/>
            <a:ext cx="2711291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Core Components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79183" y="3050262"/>
            <a:ext cx="2935724" cy="1895356"/>
          </a:xfrm>
          <a:prstGeom prst="roundRect">
            <a:avLst>
              <a:gd name="adj" fmla="val 4005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2779" y="3253859"/>
            <a:ext cx="2528530" cy="564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Arduino Nano 33 BLE Sense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82779" y="3962638"/>
            <a:ext cx="2528530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controller with built-in microphone and BLE connectivity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58853" y="3050262"/>
            <a:ext cx="2935724" cy="1895356"/>
          </a:xfrm>
          <a:prstGeom prst="roundRect">
            <a:avLst>
              <a:gd name="adj" fmla="val 4005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62450" y="3253859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RFID Module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362450" y="3680222"/>
            <a:ext cx="2528530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system for emergency vehicle verification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79183" y="5089565"/>
            <a:ext cx="2935724" cy="1353145"/>
          </a:xfrm>
          <a:prstGeom prst="roundRect">
            <a:avLst>
              <a:gd name="adj" fmla="val 5610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2779" y="5293162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Microphone Sensor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282779" y="5719524"/>
            <a:ext cx="2528530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Audio input for siren detection and sound classification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58853" y="5089565"/>
            <a:ext cx="2935724" cy="1353145"/>
          </a:xfrm>
          <a:prstGeom prst="roundRect">
            <a:avLst>
              <a:gd name="adj" fmla="val 5610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2450" y="5293162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Traffic LEDs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362450" y="5719524"/>
            <a:ext cx="2528530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Signal control outputs for red, yellow, and green lights</a:t>
            </a:r>
            <a:endParaRPr lang="en-US" sz="14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205" y="1497449"/>
            <a:ext cx="6015395" cy="601539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2ED7E5D-2C95-E2A9-E882-17C33796480E}"/>
              </a:ext>
            </a:extLst>
          </p:cNvPr>
          <p:cNvSpPr/>
          <p:nvPr/>
        </p:nvSpPr>
        <p:spPr>
          <a:xfrm>
            <a:off x="12534607" y="7505700"/>
            <a:ext cx="1992923" cy="609600"/>
          </a:xfrm>
          <a:prstGeom prst="rect">
            <a:avLst/>
          </a:prstGeom>
          <a:solidFill>
            <a:srgbClr val="00001A"/>
          </a:solidFill>
          <a:ln>
            <a:solidFill>
              <a:srgbClr val="0000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25485"/>
            <a:ext cx="78264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Software Stack &amp; Methodology :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408789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TinyML Framework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457831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Lightweight machine learning for embedded audio classification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4087892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Embedded C/Python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457831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signal processing and control algorithms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4087892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4087892"/>
            <a:ext cx="29013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Continuous Monitoring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457831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24/7 audio stream analysis with instant response capability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52EFC4-0DFC-A74A-E94E-9997D1A8EE8D}"/>
              </a:ext>
            </a:extLst>
          </p:cNvPr>
          <p:cNvSpPr/>
          <p:nvPr/>
        </p:nvSpPr>
        <p:spPr>
          <a:xfrm>
            <a:off x="12534607" y="7505700"/>
            <a:ext cx="1992923" cy="609600"/>
          </a:xfrm>
          <a:prstGeom prst="rect">
            <a:avLst/>
          </a:prstGeom>
          <a:solidFill>
            <a:srgbClr val="00001A"/>
          </a:solidFill>
          <a:ln>
            <a:solidFill>
              <a:srgbClr val="0000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19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Performance Results :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83773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92%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281232" y="3869531"/>
            <a:ext cx="31836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Siren Detection Accuracy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5995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 classification of emergency vehicle sirens across varied conditions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83773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100%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RFID Success Rate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35995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Reliable hardware authentication without failures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83773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&lt;2s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Response Time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35995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delay from detection to signal change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40906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183A13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684996"/>
            <a:ext cx="283488" cy="22681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30906" y="5624393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Achievement:</a:t>
            </a: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Dual verification system significantly reduces false triggers compared to audio-only detection methods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438743-625B-BB04-33AF-F00F27C5418B}"/>
              </a:ext>
            </a:extLst>
          </p:cNvPr>
          <p:cNvSpPr/>
          <p:nvPr/>
        </p:nvSpPr>
        <p:spPr>
          <a:xfrm>
            <a:off x="12534607" y="7505700"/>
            <a:ext cx="1992923" cy="609600"/>
          </a:xfrm>
          <a:prstGeom prst="rect">
            <a:avLst/>
          </a:prstGeom>
          <a:solidFill>
            <a:srgbClr val="00001A"/>
          </a:solidFill>
          <a:ln>
            <a:solidFill>
              <a:srgbClr val="0000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626031"/>
            <a:ext cx="817102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Applications &amp; Future Enhancements :</a:t>
            </a:r>
            <a:endParaRPr lang="en-US" sz="3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4611" y="13155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Current Applications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94611" y="1947982"/>
            <a:ext cx="4297918" cy="2190512"/>
          </a:xfrm>
          <a:prstGeom prst="roundRect">
            <a:avLst>
              <a:gd name="adj" fmla="val 380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589" y="215396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5A6ED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300" y="2317552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0589" y="29228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Smart Cities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00589" y="3337203"/>
            <a:ext cx="388596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Integrated traffic management infrastructure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166122" y="1947982"/>
            <a:ext cx="4298037" cy="2190512"/>
          </a:xfrm>
          <a:prstGeom prst="roundRect">
            <a:avLst>
              <a:gd name="adj" fmla="val 380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72100" y="215396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5A6ED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5811" y="2317552"/>
            <a:ext cx="267891" cy="267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72100" y="29228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Emergency Services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372100" y="3337203"/>
            <a:ext cx="388608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Ambulance and fire vehicle priority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9637752" y="1947982"/>
            <a:ext cx="4297918" cy="2190512"/>
          </a:xfrm>
          <a:prstGeom prst="roundRect">
            <a:avLst>
              <a:gd name="adj" fmla="val 380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43730" y="215396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5A6ED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07441" y="2317552"/>
            <a:ext cx="267891" cy="2678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43730" y="29228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Traffic Control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843730" y="3337203"/>
            <a:ext cx="388596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Adaptive signal optimization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94611" y="43988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Future Enhancements</a:t>
            </a:r>
            <a:endParaRPr lang="en-US" sz="2300" dirty="0"/>
          </a:p>
        </p:txBody>
      </p:sp>
      <p:sp>
        <p:nvSpPr>
          <p:cNvPr id="20" name="Shape 15"/>
          <p:cNvSpPr/>
          <p:nvPr/>
        </p:nvSpPr>
        <p:spPr>
          <a:xfrm>
            <a:off x="992267" y="5825133"/>
            <a:ext cx="4000143" cy="198358"/>
          </a:xfrm>
          <a:prstGeom prst="roundRect">
            <a:avLst>
              <a:gd name="adj" fmla="val 4202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4611" y="5626656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439" y="5775484"/>
            <a:ext cx="297656" cy="2976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2969" y="639556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AI Camera Integration</a:t>
            </a:r>
            <a:endParaRPr lang="en-US" sz="1950" dirty="0"/>
          </a:p>
        </p:txBody>
      </p:sp>
      <p:sp>
        <p:nvSpPr>
          <p:cNvPr id="24" name="Text 18"/>
          <p:cNvSpPr/>
          <p:nvPr/>
        </p:nvSpPr>
        <p:spPr>
          <a:xfrm>
            <a:off x="892969" y="6809899"/>
            <a:ext cx="390120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verification and multi-camera coordination</a:t>
            </a:r>
            <a:endParaRPr lang="en-US" sz="1550" dirty="0"/>
          </a:p>
        </p:txBody>
      </p:sp>
      <p:sp>
        <p:nvSpPr>
          <p:cNvPr id="25" name="Shape 19"/>
          <p:cNvSpPr/>
          <p:nvPr/>
        </p:nvSpPr>
        <p:spPr>
          <a:xfrm>
            <a:off x="5463778" y="5527477"/>
            <a:ext cx="4000262" cy="198358"/>
          </a:xfrm>
          <a:prstGeom prst="roundRect">
            <a:avLst>
              <a:gd name="adj" fmla="val 4202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166122" y="5328999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4950" y="5477828"/>
            <a:ext cx="297656" cy="2976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64480" y="60979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GPS Tracking</a:t>
            </a:r>
            <a:endParaRPr lang="en-US" sz="1950" dirty="0"/>
          </a:p>
        </p:txBody>
      </p:sp>
      <p:sp>
        <p:nvSpPr>
          <p:cNvPr id="29" name="Text 22"/>
          <p:cNvSpPr/>
          <p:nvPr/>
        </p:nvSpPr>
        <p:spPr>
          <a:xfrm>
            <a:off x="5364480" y="6512243"/>
            <a:ext cx="390132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prediction and pre-emptive signal control</a:t>
            </a:r>
            <a:endParaRPr lang="en-US" sz="1550" dirty="0"/>
          </a:p>
        </p:txBody>
      </p:sp>
      <p:sp>
        <p:nvSpPr>
          <p:cNvPr id="30" name="Shape 23"/>
          <p:cNvSpPr/>
          <p:nvPr/>
        </p:nvSpPr>
        <p:spPr>
          <a:xfrm>
            <a:off x="9935408" y="5229820"/>
            <a:ext cx="4000143" cy="198358"/>
          </a:xfrm>
          <a:prstGeom prst="roundRect">
            <a:avLst>
              <a:gd name="adj" fmla="val 4202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637752" y="5031343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86580" y="5180171"/>
            <a:ext cx="297656" cy="2976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836110" y="58002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Cloud-Based Control</a:t>
            </a:r>
            <a:endParaRPr lang="en-US" sz="1950" dirty="0"/>
          </a:p>
        </p:txBody>
      </p:sp>
      <p:sp>
        <p:nvSpPr>
          <p:cNvPr id="34" name="Text 26"/>
          <p:cNvSpPr/>
          <p:nvPr/>
        </p:nvSpPr>
        <p:spPr>
          <a:xfrm>
            <a:off x="9836110" y="6214586"/>
            <a:ext cx="390120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monitoring and city-wide coordination</a:t>
            </a:r>
            <a:endParaRPr lang="en-US" sz="15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C0688F-BF8F-337C-235F-80B9C3F9674B}"/>
              </a:ext>
            </a:extLst>
          </p:cNvPr>
          <p:cNvSpPr/>
          <p:nvPr/>
        </p:nvSpPr>
        <p:spPr>
          <a:xfrm>
            <a:off x="12534607" y="7505700"/>
            <a:ext cx="1992923" cy="609600"/>
          </a:xfrm>
          <a:prstGeom prst="rect">
            <a:avLst/>
          </a:prstGeom>
          <a:solidFill>
            <a:srgbClr val="00001A"/>
          </a:solidFill>
          <a:ln>
            <a:solidFill>
              <a:srgbClr val="0000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1825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76" y="603528"/>
            <a:ext cx="5266730" cy="7022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9025" y="611148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Conclusion :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69025" y="1616988"/>
            <a:ext cx="7605951" cy="1663422"/>
          </a:xfrm>
          <a:prstGeom prst="roundRect">
            <a:avLst>
              <a:gd name="adj" fmla="val 8795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8545" y="1616988"/>
            <a:ext cx="121920" cy="1663422"/>
          </a:xfrm>
          <a:prstGeom prst="roundRect">
            <a:avLst>
              <a:gd name="adj" fmla="val 75698"/>
            </a:avLst>
          </a:prstGeom>
          <a:solidFill>
            <a:srgbClr val="5A6ED8"/>
          </a:solidFill>
          <a:ln/>
        </p:spPr>
      </p:sp>
      <p:sp>
        <p:nvSpPr>
          <p:cNvPr id="7" name="Text 4"/>
          <p:cNvSpPr/>
          <p:nvPr/>
        </p:nvSpPr>
        <p:spPr>
          <a:xfrm>
            <a:off x="1110615" y="1867138"/>
            <a:ext cx="3859530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Improves Emergency Response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110615" y="2338030"/>
            <a:ext cx="7014210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critical delays for life-saving vehicles through intelligent priority clearance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69025" y="3493175"/>
            <a:ext cx="7605951" cy="1663422"/>
          </a:xfrm>
          <a:prstGeom prst="roundRect">
            <a:avLst>
              <a:gd name="adj" fmla="val 8795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8545" y="3493175"/>
            <a:ext cx="121920" cy="1663422"/>
          </a:xfrm>
          <a:prstGeom prst="roundRect">
            <a:avLst>
              <a:gd name="adj" fmla="val 75698"/>
            </a:avLst>
          </a:prstGeom>
          <a:solidFill>
            <a:srgbClr val="5A6ED8"/>
          </a:solidFill>
          <a:ln/>
        </p:spPr>
      </p:sp>
      <p:sp>
        <p:nvSpPr>
          <p:cNvPr id="11" name="Text 8"/>
          <p:cNvSpPr/>
          <p:nvPr/>
        </p:nvSpPr>
        <p:spPr>
          <a:xfrm>
            <a:off x="1110615" y="3743325"/>
            <a:ext cx="354758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Intelligent &amp; Efficient System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110615" y="4214217"/>
            <a:ext cx="7014210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approach combines machine learning with hardware authentication for reliability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69025" y="5369362"/>
            <a:ext cx="7605951" cy="1663422"/>
          </a:xfrm>
          <a:prstGeom prst="roundRect">
            <a:avLst>
              <a:gd name="adj" fmla="val 8795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8545" y="5369362"/>
            <a:ext cx="121920" cy="1663422"/>
          </a:xfrm>
          <a:prstGeom prst="roundRect">
            <a:avLst>
              <a:gd name="adj" fmla="val 75698"/>
            </a:avLst>
          </a:prstGeom>
          <a:solidFill>
            <a:srgbClr val="5A6ED8"/>
          </a:solidFill>
          <a:ln/>
        </p:spPr>
      </p:sp>
      <p:sp>
        <p:nvSpPr>
          <p:cNvPr id="15" name="Text 12"/>
          <p:cNvSpPr/>
          <p:nvPr/>
        </p:nvSpPr>
        <p:spPr>
          <a:xfrm>
            <a:off x="1110615" y="5619512"/>
            <a:ext cx="331541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Supports Smart City Vision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1110615" y="6090404"/>
            <a:ext cx="7014210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Scalable, low-cost implementation ready for urban infrastructure integration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69025" y="7272218"/>
            <a:ext cx="760595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</a:t>
            </a: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Questions &amp; Discussion Welcome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438</Words>
  <Application>Microsoft Office PowerPoint</Application>
  <PresentationFormat>Custom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 Medium</vt:lpstr>
      <vt:lpstr>Arial</vt:lpstr>
      <vt:lpstr>Times New Roman</vt:lpstr>
      <vt:lpstr>Roboto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purvesh hole</cp:lastModifiedBy>
  <cp:revision>2</cp:revision>
  <dcterms:created xsi:type="dcterms:W3CDTF">2026-05-02T02:28:15Z</dcterms:created>
  <dcterms:modified xsi:type="dcterms:W3CDTF">2026-05-02T03:25:15Z</dcterms:modified>
</cp:coreProperties>
</file>